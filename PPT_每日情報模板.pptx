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7e76cb03dc4e48" /><Relationship Type="http://schemas.openxmlformats.org/officeDocument/2006/relationships/extended-properties" Target="/docProps/app.xml" Id="R61792ac40ecc441b" /><Relationship Type="http://schemas.openxmlformats.org/officeDocument/2006/relationships/officeDocument" Target="/ppt/presentation.xml" Id="R5dc2a3eacb0b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d71e7b1ba4079"/>
  </p:sldMasterIdLst>
  <p:notesMasterIdLst>
    <p:notesMasterId xmlns:r="http://schemas.openxmlformats.org/officeDocument/2006/relationships" r:id="Rf8d2c682dd844078"/>
  </p:notesMasterIdLst>
  <p:sldIdLst>
    <p:sldId xmlns:r="http://schemas.openxmlformats.org/officeDocument/2006/relationships" id="256" r:id="R1b234cb525264314"/>
    <p:sldId xmlns:r="http://schemas.openxmlformats.org/officeDocument/2006/relationships" id="257" r:id="R545d7327197d43ea"/>
    <p:sldId xmlns:r="http://schemas.openxmlformats.org/officeDocument/2006/relationships" id="258" r:id="Rd32606a6e54f4490"/>
    <p:sldId xmlns:r="http://schemas.openxmlformats.org/officeDocument/2006/relationships" id="259" r:id="Raad5d180a94646b0"/>
    <p:sldId xmlns:r="http://schemas.openxmlformats.org/officeDocument/2006/relationships" id="260" r:id="R680dfc37fde742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cb07a86d604da1" /><Relationship Type="http://schemas.openxmlformats.org/officeDocument/2006/relationships/slideMaster" Target="/ppt/slideMasters/slideMaster1.xml" Id="Rf1dd71e7b1ba4079" /><Relationship Type="http://schemas.openxmlformats.org/officeDocument/2006/relationships/notesMaster" Target="/ppt/notesMasters/notesMaster1.xml" Id="Rf8d2c682dd844078" /><Relationship Type="http://schemas.openxmlformats.org/officeDocument/2006/relationships/presProps" Target="/ppt/presProps.xml" Id="R5a7ce551823842a4" /><Relationship Type="http://schemas.openxmlformats.org/officeDocument/2006/relationships/tableStyles" Target="/ppt/tableStyles.xml" Id="R835b525d28094b81" /><Relationship Type="http://schemas.openxmlformats.org/officeDocument/2006/relationships/slide" Target="/ppt/slides/slide1.xml" Id="R1b234cb525264314" /><Relationship Type="http://schemas.openxmlformats.org/officeDocument/2006/relationships/slide" Target="/ppt/slides/slide2.xml" Id="R545d7327197d43ea" /><Relationship Type="http://schemas.openxmlformats.org/officeDocument/2006/relationships/slide" Target="/ppt/slides/slide3.xml" Id="Rd32606a6e54f4490" /><Relationship Type="http://schemas.openxmlformats.org/officeDocument/2006/relationships/slide" Target="/ppt/slides/slide4.xml" Id="Raad5d180a94646b0" /><Relationship Type="http://schemas.openxmlformats.org/officeDocument/2006/relationships/slide" Target="/ppt/slides/slide5.xml" Id="R680dfc37fde742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faa763257c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1899cf83d4152" /><Relationship Type="http://schemas.openxmlformats.org/officeDocument/2006/relationships/notesMaster" Target="/ppt/notesMasters/notesMaster1.xml" Id="R12b4dfc10b9a47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d0b7d19f0d4cd1" /><Relationship Type="http://schemas.openxmlformats.org/officeDocument/2006/relationships/notesMaster" Target="/ppt/notesMasters/notesMaster1.xml" Id="R3609347bb21944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3051a06bd4a94" /><Relationship Type="http://schemas.openxmlformats.org/officeDocument/2006/relationships/notesMaster" Target="/ppt/notesMasters/notesMaster1.xml" Id="Rbae867bae3b2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aa2f42c4a4fd4" /><Relationship Type="http://schemas.openxmlformats.org/officeDocument/2006/relationships/notesMaster" Target="/ppt/notesMasters/notesMaster1.xml" Id="Rc1268a8925e44a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38af14bc82424f" /><Relationship Type="http://schemas.openxmlformats.org/officeDocument/2006/relationships/notesMaster" Target="/ppt/notesMasters/notesMaster1.xml" Id="R2fa8cc12eba0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本簡報為內部情報模板；每次使用時請在後續頁面附上各資訊的原始來源。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數字由「情報資料庫模板.xlsx」或當日 information_log.csv 更新；不含外部事實主張。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外部圖片、產品圖與截圖：每次替換時，在本頁備註加入原始網址與授權／使用條件。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分類與詞彙定義：config/taxonomy.json。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流程設定來源：本 MVP README_繁中.md。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cc527eeb240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2ed06bdd64d12" /><Relationship Type="http://schemas.openxmlformats.org/officeDocument/2006/relationships/slideLayout" Target="/ppt/slideLayouts/slideLayout1.xml" Id="Ra019f825ae0a43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9f825ae0a43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33737f55b46e9" /><Relationship Type="http://schemas.openxmlformats.org/officeDocument/2006/relationships/notesSlide" Target="/ppt/notesSlides/notesSlide1.xml" Id="Rd522e16f277642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7614fe93047b7" /><Relationship Type="http://schemas.openxmlformats.org/officeDocument/2006/relationships/notesSlide" Target="/ppt/notesSlides/notesSlide2.xml" Id="R689d51729e1c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11783ff064f98" /><Relationship Type="http://schemas.openxmlformats.org/officeDocument/2006/relationships/notesSlide" Target="/ppt/notesSlides/notesSlide3.xml" Id="R9361514bbc0a4a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05e1de5f4eb1" /><Relationship Type="http://schemas.openxmlformats.org/officeDocument/2006/relationships/notesSlide" Target="/ppt/notesSlides/notesSlide4.xml" Id="Re73aa3a1b0e048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1bc8998bc43b4" /><Relationship Type="http://schemas.openxmlformats.org/officeDocument/2006/relationships/notesSlide" Target="/ppt/notesSlides/notesSlide5.xml" Id="Rdf180724329840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8ECB1C3-D649-47B0-8725-54D6D7F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5563"/>
                </a:solidFill>
                <a:latin typeface="Arial"/>
                <a:ea typeface="Arial"/>
                <a:cs typeface="Arial"/>
              </a:rPr>
              <a:t>ONE DRIVE · NOTION · POWERPOINT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232883-5F81-41C6-A4EF-641FAA99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85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電動微移動</a:t>
            </a:r>
          </a:p>
          <a:p xmlns:a="http://schemas.openxmlformats.org/drawingml/2006/main">
            <a:pPr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每日情報簡報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D7FBDD2-7DE0-4E9B-8707-F2D4E5E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74151"/>
                </a:solidFill>
                <a:latin typeface="Arial"/>
                <a:ea typeface="Arial"/>
                <a:cs typeface="Arial"/>
              </a:rPr>
              <a:t>e-bike · e-scooter</a:t>
            </a:r>
          </a:p>
          <a:p xmlns:a="http://schemas.openxmlformats.org/drawingml/2006/main">
            <a:pPr>
              <a:defRPr sz="20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74151"/>
                </a:solidFill>
                <a:latin typeface="Arial"/>
                <a:ea typeface="Arial"/>
                <a:cs typeface="Arial"/>
              </a:rPr>
              <a:t>法規、安全、技術元件與品牌新品</a:t>
            </a:r>
          </a:p>
        </p:txBody>
      </p:sp>
    </p:spTree>
    <p:extLst>
      <p:ext uri="{BB962C8B-B14F-4D97-AF65-F5344CB8AC3E}">
        <p14:creationId xmlns:p14="http://schemas.microsoft.com/office/powerpoint/2010/main" val="564746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A5CCE498-1CD3-4941-AC04-E9CB6672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先處理需要行動的情報</a:t>
            </a:r>
          </a:p>
        </p:txBody>
      </p:sp>
      <p:sp>
        <p:nvSpPr>
          <p:cNvPr id="2" name="dashboard-subtitle">
            <a:extLst xmlns:a="http://schemas.openxmlformats.org/drawingml/2006/main">
              <a:ext uri="{FF2B5EF4-FFF2-40B4-BE49-F238E27FC236}">
                <a16:creationId xmlns:a16="http://schemas.microsoft.com/office/drawing/2014/main" id="{427C9318-D678-42E9-A9BA-69E89602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每日先檢視安全、法規與可做成簡報的三類重點。數字請由 daily-output 的資料表更新。</a:t>
            </a:r>
          </a:p>
        </p:txBody>
      </p:sp>
      <p:sp>
        <p:nvSpPr>
          <p:cNvPr id="3" name="dashboard-card-0">
            <a:extLst xmlns:a="http://schemas.openxmlformats.org/drawingml/2006/main">
              <a:ext uri="{FF2B5EF4-FFF2-40B4-BE49-F238E27FC236}">
                <a16:creationId xmlns:a16="http://schemas.microsoft.com/office/drawing/2014/main" id="{354B8D6D-06C9-4FDF-8F01-2DE7686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357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dashboard-card-label-0">
            <a:extLst xmlns:a="http://schemas.openxmlformats.org/drawingml/2006/main">
              <a:ext uri="{FF2B5EF4-FFF2-40B4-BE49-F238E27FC236}">
                <a16:creationId xmlns:a16="http://schemas.microsoft.com/office/drawing/2014/main" id="{7E895553-5EA3-405C-BF98-A117AFC1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安全／召回</a:t>
            </a:r>
          </a:p>
        </p:txBody>
      </p:sp>
      <p:sp>
        <p:nvSpPr>
          <p:cNvPr id="5" name="dashboard-card-value-0">
            <a:extLst xmlns:a="http://schemas.openxmlformats.org/drawingml/2006/main">
              <a:ext uri="{FF2B5EF4-FFF2-40B4-BE49-F238E27FC236}">
                <a16:creationId xmlns:a16="http://schemas.microsoft.com/office/drawing/2014/main" id="{63B2D42D-A0B1-410D-B95D-3222012D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" name="dashboard-card-copy-0">
            <a:extLst xmlns:a="http://schemas.openxmlformats.org/drawingml/2006/main">
              <a:ext uri="{FF2B5EF4-FFF2-40B4-BE49-F238E27FC236}">
                <a16:creationId xmlns:a16="http://schemas.microsoft.com/office/drawing/2014/main" id="{F12E55E0-7BCD-443A-AC8B-2E75929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B5563"/>
                </a:solidFill>
                <a:latin typeface="Arial"/>
                <a:ea typeface="Arial"/>
                <a:cs typeface="Arial"/>
              </a:rPr>
              <a:t>高風險事項；立即回看官方公告</a:t>
            </a:r>
          </a:p>
        </p:txBody>
      </p:sp>
      <p:sp>
        <p:nvSpPr>
          <p:cNvPr id="7" name="dashboard-card-1">
            <a:extLst xmlns:a="http://schemas.openxmlformats.org/drawingml/2006/main">
              <a:ext uri="{FF2B5EF4-FFF2-40B4-BE49-F238E27FC236}">
                <a16:creationId xmlns:a16="http://schemas.microsoft.com/office/drawing/2014/main" id="{B1574AA2-0964-4009-A293-3C1284CA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57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dashboard-card-label-1">
            <a:extLst xmlns:a="http://schemas.openxmlformats.org/drawingml/2006/main">
              <a:ext uri="{FF2B5EF4-FFF2-40B4-BE49-F238E27FC236}">
                <a16:creationId xmlns:a16="http://schemas.microsoft.com/office/drawing/2014/main" id="{D5816714-D648-4DF6-962A-8F09D23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法規更新</a:t>
            </a:r>
          </a:p>
        </p:txBody>
      </p:sp>
      <p:sp>
        <p:nvSpPr>
          <p:cNvPr id="9" name="dashboard-card-value-1">
            <a:extLst xmlns:a="http://schemas.openxmlformats.org/drawingml/2006/main">
              <a:ext uri="{FF2B5EF4-FFF2-40B4-BE49-F238E27FC236}">
                <a16:creationId xmlns:a16="http://schemas.microsoft.com/office/drawing/2014/main" id="{DC02DA2A-8D8B-4E02-8C9A-C6C7C392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242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" name="dashboard-card-copy-1">
            <a:extLst xmlns:a="http://schemas.openxmlformats.org/drawingml/2006/main">
              <a:ext uri="{FF2B5EF4-FFF2-40B4-BE49-F238E27FC236}">
                <a16:creationId xmlns:a16="http://schemas.microsoft.com/office/drawing/2014/main" id="{65B4C1B5-3245-47A2-9D33-9DADA647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6250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B5563"/>
                </a:solidFill>
                <a:latin typeface="Arial"/>
                <a:ea typeface="Arial"/>
                <a:cs typeface="Arial"/>
              </a:rPr>
              <a:t>確認生效日、適用市場與產品類型</a:t>
            </a:r>
          </a:p>
        </p:txBody>
      </p:sp>
      <p:sp>
        <p:nvSpPr>
          <p:cNvPr id="11" name="dashboard-card-2">
            <a:extLst xmlns:a="http://schemas.openxmlformats.org/drawingml/2006/main">
              <a:ext uri="{FF2B5EF4-FFF2-40B4-BE49-F238E27FC236}">
                <a16:creationId xmlns:a16="http://schemas.microsoft.com/office/drawing/2014/main" id="{89C7070D-ABD9-47AC-8741-216F281E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24125"/>
            <a:ext cx="357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dashboard-card-label-2">
            <a:extLst xmlns:a="http://schemas.openxmlformats.org/drawingml/2006/main">
              <a:ext uri="{FF2B5EF4-FFF2-40B4-BE49-F238E27FC236}">
                <a16:creationId xmlns:a16="http://schemas.microsoft.com/office/drawing/2014/main" id="{E5ACD4DE-E2CE-405D-8374-D6B31CCE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PPT 候選</a:t>
            </a:r>
          </a:p>
        </p:txBody>
      </p:sp>
      <p:sp>
        <p:nvSpPr>
          <p:cNvPr id="13" name="dashboard-card-value-2">
            <a:extLst xmlns:a="http://schemas.openxmlformats.org/drawingml/2006/main">
              <a:ext uri="{FF2B5EF4-FFF2-40B4-BE49-F238E27FC236}">
                <a16:creationId xmlns:a16="http://schemas.microsoft.com/office/drawing/2014/main" id="{3B4E80D8-035F-4A7D-BB77-80D81E5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" name="dashboard-card-copy-2">
            <a:extLst xmlns:a="http://schemas.openxmlformats.org/drawingml/2006/main">
              <a:ext uri="{FF2B5EF4-FFF2-40B4-BE49-F238E27FC236}">
                <a16:creationId xmlns:a16="http://schemas.microsoft.com/office/drawing/2014/main" id="{685F593D-2D82-48F8-B6BD-2A9DBBED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B5563"/>
                </a:solidFill>
                <a:latin typeface="Arial"/>
                <a:ea typeface="Arial"/>
                <a:cs typeface="Arial"/>
              </a:rPr>
              <a:t>已核對來源與圖片授權後才可使用</a:t>
            </a:r>
          </a:p>
        </p:txBody>
      </p:sp>
      <p:sp>
        <p:nvSpPr>
          <p:cNvPr id="15" name="footer-2">
            <a:extLst xmlns:a="http://schemas.openxmlformats.org/drawingml/2006/main">
              <a:ext uri="{FF2B5EF4-FFF2-40B4-BE49-F238E27FC236}">
                <a16:creationId xmlns:a16="http://schemas.microsoft.com/office/drawing/2014/main" id="{8FB6C2CD-353B-4F0D-A29A-67A799E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8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電動微移動情報雷達  |  2</a:t>
            </a:r>
          </a:p>
        </p:txBody>
      </p:sp>
    </p:spTree>
    <p:extLst>
      <p:ext uri="{BB962C8B-B14F-4D97-AF65-F5344CB8AC3E}">
        <p14:creationId xmlns:p14="http://schemas.microsoft.com/office/powerpoint/2010/main" val="1737726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4C914F5C-8BAC-44E6-B4B0-FE8AA15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每則素材都要能回到原文</a:t>
            </a:r>
          </a:p>
        </p:txBody>
      </p:sp>
      <p:sp>
        <p:nvSpPr>
          <p:cNvPr id="2" name="source-subtitle">
            <a:extLst xmlns:a="http://schemas.openxmlformats.org/drawingml/2006/main">
              <a:ext uri="{FF2B5EF4-FFF2-40B4-BE49-F238E27FC236}">
                <a16:creationId xmlns:a16="http://schemas.microsoft.com/office/drawing/2014/main" id="{51612FC1-C75D-4259-8C43-8D14B04F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把這一頁複製為每則情報的基本版型；PPT 備註中保留完整引用格式。</a:t>
            </a:r>
          </a:p>
        </p:txBody>
      </p:sp>
      <p:sp>
        <p:nvSpPr>
          <p:cNvPr id="3" name="source-field">
            <a:extLst xmlns:a="http://schemas.openxmlformats.org/drawingml/2006/main">
              <a:ext uri="{FF2B5EF4-FFF2-40B4-BE49-F238E27FC236}">
                <a16:creationId xmlns:a16="http://schemas.microsoft.com/office/drawing/2014/main" id="{F61F1D52-B21A-4092-913F-D56CA94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52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ource-headline">
            <a:extLst xmlns:a="http://schemas.openxmlformats.org/drawingml/2006/main">
              <a:ext uri="{FF2B5EF4-FFF2-40B4-BE49-F238E27FC236}">
                <a16:creationId xmlns:a16="http://schemas.microsoft.com/office/drawing/2014/main" id="{729211B9-86A0-48CF-BDD9-43C8B36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資訊標題：</a:t>
            </a:r>
          </a:p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[填入官方公告或新聞稿的標題]</a:t>
            </a:r>
          </a:p>
        </p:txBody>
      </p:sp>
      <p:sp>
        <p:nvSpPr>
          <p:cNvPr id="5" name="source-point">
            <a:extLst xmlns:a="http://schemas.openxmlformats.org/drawingml/2006/main">
              <a:ext uri="{FF2B5EF4-FFF2-40B4-BE49-F238E27FC236}">
                <a16:creationId xmlns:a16="http://schemas.microsoft.com/office/drawing/2014/main" id="{46478421-BFB3-4238-B62B-A3659974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一句重點</a:t>
            </a:r>
          </a:p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[以繁中說明這對產品、法規、供應鏈或安全的意義]</a:t>
            </a:r>
          </a:p>
        </p:txBody>
      </p:sp>
      <p:sp>
        <p:nvSpPr>
          <p:cNvPr id="6" name="source-citation">
            <a:extLst xmlns:a="http://schemas.openxmlformats.org/drawingml/2006/main">
              <a:ext uri="{FF2B5EF4-FFF2-40B4-BE49-F238E27FC236}">
                <a16:creationId xmlns:a16="http://schemas.microsoft.com/office/drawing/2014/main" id="{45E4E7CC-6273-4BFF-AF3F-A3945095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B5563"/>
                </a:solidFill>
                <a:latin typeface="Arial"/>
                <a:ea typeface="Arial"/>
                <a:cs typeface="Arial"/>
              </a:rPr>
              <a:t>原始來源</a:t>
            </a:r>
          </a:p>
          <a:p xmlns:a="http://schemas.openxmlformats.org/drawingml/2006/main">
            <a:pPr>
              <a:defRPr sz="135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B5563"/>
                </a:solidFill>
                <a:latin typeface="Arial"/>
                <a:ea typeface="Arial"/>
                <a:cs typeface="Arial"/>
              </a:rPr>
              <a:t>[來源名稱｜發布日期｜原文網址｜擷取日期]</a:t>
            </a:r>
          </a:p>
        </p:txBody>
      </p:sp>
      <p:sp>
        <p:nvSpPr>
          <p:cNvPr id="7" name="source-visual">
            <a:extLst xmlns:a="http://schemas.openxmlformats.org/drawingml/2006/main">
              <a:ext uri="{FF2B5EF4-FFF2-40B4-BE49-F238E27FC236}">
                <a16:creationId xmlns:a16="http://schemas.microsoft.com/office/drawing/2014/main" id="{EB17E44E-A270-423F-9069-1DD917E4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448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source-visual-label">
            <a:extLst xmlns:a="http://schemas.openxmlformats.org/drawingml/2006/main">
              <a:ext uri="{FF2B5EF4-FFF2-40B4-BE49-F238E27FC236}">
                <a16:creationId xmlns:a16="http://schemas.microsoft.com/office/drawing/2014/main" id="{F8922618-C6FE-4E3B-935F-D86181E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官方產品圖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或公告截圖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使用前確認授權</a:t>
            </a:r>
          </a:p>
        </p:txBody>
      </p:sp>
      <p:sp>
        <p:nvSpPr>
          <p:cNvPr id="9" name="footer-3">
            <a:extLst xmlns:a="http://schemas.openxmlformats.org/drawingml/2006/main">
              <a:ext uri="{FF2B5EF4-FFF2-40B4-BE49-F238E27FC236}">
                <a16:creationId xmlns:a16="http://schemas.microsoft.com/office/drawing/2014/main" id="{4ECDA166-F242-479F-AF1C-EF97976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8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電動微移動情報雷達  |  3</a:t>
            </a:r>
          </a:p>
        </p:txBody>
      </p:sp>
    </p:spTree>
    <p:extLst>
      <p:ext uri="{BB962C8B-B14F-4D97-AF65-F5344CB8AC3E}">
        <p14:creationId xmlns:p14="http://schemas.microsoft.com/office/powerpoint/2010/main" val="115566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ategories-title">
            <a:extLst xmlns:a="http://schemas.openxmlformats.org/drawingml/2006/main">
              <a:ext uri="{FF2B5EF4-FFF2-40B4-BE49-F238E27FC236}">
                <a16:creationId xmlns:a16="http://schemas.microsoft.com/office/drawing/2014/main" id="{0E00224D-F5D4-4039-8C2C-BD408EC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用同一套分類，日報才可比較與搜尋</a:t>
            </a:r>
          </a:p>
        </p:txBody>
      </p:sp>
      <p:sp>
        <p:nvSpPr>
          <p:cNvPr id="2" name="category-box-0">
            <a:extLst xmlns:a="http://schemas.openxmlformats.org/drawingml/2006/main">
              <a:ext uri="{FF2B5EF4-FFF2-40B4-BE49-F238E27FC236}">
                <a16:creationId xmlns:a16="http://schemas.microsoft.com/office/drawing/2014/main" id="{4D9F8B7D-3F51-4646-892A-4062B8E8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353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category-title-0">
            <a:extLst xmlns:a="http://schemas.openxmlformats.org/drawingml/2006/main">
              <a:ext uri="{FF2B5EF4-FFF2-40B4-BE49-F238E27FC236}">
                <a16:creationId xmlns:a16="http://schemas.microsoft.com/office/drawing/2014/main" id="{C67B3DAB-47F9-450E-95A7-1D5C64F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法規更新</a:t>
            </a:r>
          </a:p>
        </p:txBody>
      </p:sp>
      <p:sp>
        <p:nvSpPr>
          <p:cNvPr id="4" name="category-copy-0">
            <a:extLst xmlns:a="http://schemas.openxmlformats.org/drawingml/2006/main">
              <a:ext uri="{FF2B5EF4-FFF2-40B4-BE49-F238E27FC236}">
                <a16:creationId xmlns:a16="http://schemas.microsoft.com/office/drawing/2014/main" id="{C443504E-92F7-4E2E-A8FC-49001E0A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47825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374151"/>
                </a:solidFill>
                <a:latin typeface="Arial"/>
                <a:ea typeface="Arial"/>
                <a:cs typeface="Arial"/>
              </a:rPr>
              <a:t>生效日、地區、適用產品、原始法條</a:t>
            </a:r>
          </a:p>
        </p:txBody>
      </p:sp>
      <p:sp>
        <p:nvSpPr>
          <p:cNvPr id="5" name="category-box-1">
            <a:extLst xmlns:a="http://schemas.openxmlformats.org/drawingml/2006/main">
              <a:ext uri="{FF2B5EF4-FFF2-40B4-BE49-F238E27FC236}">
                <a16:creationId xmlns:a16="http://schemas.microsoft.com/office/drawing/2014/main" id="{898D935F-DE48-41B7-B619-8588330B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353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category-title-1">
            <a:extLst xmlns:a="http://schemas.openxmlformats.org/drawingml/2006/main">
              <a:ext uri="{FF2B5EF4-FFF2-40B4-BE49-F238E27FC236}">
                <a16:creationId xmlns:a16="http://schemas.microsoft.com/office/drawing/2014/main" id="{0B9A6568-2C18-4A2F-8663-80ABF30E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38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安全召回</a:t>
            </a:r>
          </a:p>
        </p:txBody>
      </p:sp>
      <p:sp>
        <p:nvSpPr>
          <p:cNvPr id="7" name="category-copy-1">
            <a:extLst xmlns:a="http://schemas.openxmlformats.org/drawingml/2006/main">
              <a:ext uri="{FF2B5EF4-FFF2-40B4-BE49-F238E27FC236}">
                <a16:creationId xmlns:a16="http://schemas.microsoft.com/office/drawing/2014/main" id="{11B3D0B4-7A2C-43FF-AB36-8831B73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647825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374151"/>
                </a:solidFill>
                <a:latin typeface="Arial"/>
                <a:ea typeface="Arial"/>
                <a:cs typeface="Arial"/>
              </a:rPr>
              <a:t>危害、型號、處置、官方召回／警告</a:t>
            </a:r>
          </a:p>
        </p:txBody>
      </p:sp>
      <p:sp>
        <p:nvSpPr>
          <p:cNvPr id="8" name="category-box-2">
            <a:extLst xmlns:a="http://schemas.openxmlformats.org/drawingml/2006/main">
              <a:ext uri="{FF2B5EF4-FFF2-40B4-BE49-F238E27FC236}">
                <a16:creationId xmlns:a16="http://schemas.microsoft.com/office/drawing/2014/main" id="{66720B63-2BF4-4301-98E5-352D28E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353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category-title-2">
            <a:extLst xmlns:a="http://schemas.openxmlformats.org/drawingml/2006/main">
              <a:ext uri="{FF2B5EF4-FFF2-40B4-BE49-F238E27FC236}">
                <a16:creationId xmlns:a16="http://schemas.microsoft.com/office/drawing/2014/main" id="{4F8A01DF-01E7-4DD2-9791-F505CA46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技術元件</a:t>
            </a:r>
          </a:p>
        </p:txBody>
      </p:sp>
      <p:sp>
        <p:nvSpPr>
          <p:cNvPr id="10" name="category-copy-2">
            <a:extLst xmlns:a="http://schemas.openxmlformats.org/drawingml/2006/main">
              <a:ext uri="{FF2B5EF4-FFF2-40B4-BE49-F238E27FC236}">
                <a16:creationId xmlns:a16="http://schemas.microsoft.com/office/drawing/2014/main" id="{939CEE56-A2BC-4D35-955A-7BFC9D2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95625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374151"/>
                </a:solidFill>
                <a:latin typeface="Arial"/>
                <a:ea typeface="Arial"/>
                <a:cs typeface="Arial"/>
              </a:rPr>
              <a:t>電池、BMS、馬達、控制器、充電、軟體</a:t>
            </a:r>
          </a:p>
        </p:txBody>
      </p:sp>
      <p:sp>
        <p:nvSpPr>
          <p:cNvPr id="11" name="category-box-3">
            <a:extLst xmlns:a="http://schemas.openxmlformats.org/drawingml/2006/main">
              <a:ext uri="{FF2B5EF4-FFF2-40B4-BE49-F238E27FC236}">
                <a16:creationId xmlns:a16="http://schemas.microsoft.com/office/drawing/2014/main" id="{F3FD0FE6-81E8-4708-BCA3-37A95A4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5353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category-title-3">
            <a:extLst xmlns:a="http://schemas.openxmlformats.org/drawingml/2006/main">
              <a:ext uri="{FF2B5EF4-FFF2-40B4-BE49-F238E27FC236}">
                <a16:creationId xmlns:a16="http://schemas.microsoft.com/office/drawing/2014/main" id="{9D8730C9-C0DC-45B3-A2C1-2A959605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861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品牌新品</a:t>
            </a:r>
          </a:p>
        </p:txBody>
      </p:sp>
      <p:sp>
        <p:nvSpPr>
          <p:cNvPr id="13" name="category-copy-3">
            <a:extLst xmlns:a="http://schemas.openxmlformats.org/drawingml/2006/main">
              <a:ext uri="{FF2B5EF4-FFF2-40B4-BE49-F238E27FC236}">
                <a16:creationId xmlns:a16="http://schemas.microsoft.com/office/drawing/2014/main" id="{AF1C4D74-7C95-485F-9DBD-5C22B06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95625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374151"/>
                </a:solidFill>
                <a:latin typeface="Arial"/>
                <a:ea typeface="Arial"/>
                <a:cs typeface="Arial"/>
              </a:rPr>
              <a:t>型號、上市市場、規格、官方圖／新聞稿</a:t>
            </a:r>
          </a:p>
        </p:txBody>
      </p:sp>
      <p:sp>
        <p:nvSpPr>
          <p:cNvPr id="14" name="category-box-4">
            <a:extLst xmlns:a="http://schemas.openxmlformats.org/drawingml/2006/main">
              <a:ext uri="{FF2B5EF4-FFF2-40B4-BE49-F238E27FC236}">
                <a16:creationId xmlns:a16="http://schemas.microsoft.com/office/drawing/2014/main" id="{00EC8342-32C3-41CB-BE90-C5098EE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353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category-title-4">
            <a:extLst xmlns:a="http://schemas.openxmlformats.org/drawingml/2006/main">
              <a:ext uri="{FF2B5EF4-FFF2-40B4-BE49-F238E27FC236}">
                <a16:creationId xmlns:a16="http://schemas.microsoft.com/office/drawing/2014/main" id="{A405518C-A4CC-4E78-BC68-EF2574C0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33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產業趨勢</a:t>
            </a:r>
          </a:p>
        </p:txBody>
      </p:sp>
      <p:sp>
        <p:nvSpPr>
          <p:cNvPr id="16" name="category-copy-4">
            <a:extLst xmlns:a="http://schemas.openxmlformats.org/drawingml/2006/main">
              <a:ext uri="{FF2B5EF4-FFF2-40B4-BE49-F238E27FC236}">
                <a16:creationId xmlns:a16="http://schemas.microsoft.com/office/drawing/2014/main" id="{596C8BF4-213B-4845-B0BF-F1D13FEC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543425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374151"/>
                </a:solidFill>
                <a:latin typeface="Arial"/>
                <a:ea typeface="Arial"/>
                <a:cs typeface="Arial"/>
              </a:rPr>
              <a:t>供應鏈、合作、投資、標準與市場訊號</a:t>
            </a:r>
          </a:p>
        </p:txBody>
      </p:sp>
      <p:sp>
        <p:nvSpPr>
          <p:cNvPr id="17" name="footer-4">
            <a:extLst xmlns:a="http://schemas.openxmlformats.org/drawingml/2006/main">
              <a:ext uri="{FF2B5EF4-FFF2-40B4-BE49-F238E27FC236}">
                <a16:creationId xmlns:a16="http://schemas.microsoft.com/office/drawing/2014/main" id="{F025CCA2-BE0B-4444-BAB0-A7834B36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8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電動微移動情報雷達  |  4</a:t>
            </a:r>
          </a:p>
        </p:txBody>
      </p:sp>
    </p:spTree>
    <p:extLst>
      <p:ext uri="{BB962C8B-B14F-4D97-AF65-F5344CB8AC3E}">
        <p14:creationId xmlns:p14="http://schemas.microsoft.com/office/powerpoint/2010/main" val="43123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82E9067E-C8E7-44C5-ACEC-3EE6C2B6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每日 10 分鐘：篩選、查核、轉成工作素材</a:t>
            </a:r>
          </a:p>
        </p:txBody>
      </p:sp>
      <p:cxnSp>
        <p:nvCxnSpPr>
          <p:cNvPr id="17" name="process-line"/>
          <p:cNvCxnSpPr/>
          <p:nvPr/>
        </p:nvCxnSpPr>
        <p:spPr>
          <a:xfrm xmlns:a="http://schemas.openxmlformats.org/drawingml/2006/main">
            <a:off x="476250" y="3219450"/>
            <a:ext cx="11144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3" name="process-dot-0">
            <a:extLst xmlns:a="http://schemas.openxmlformats.org/drawingml/2006/main">
              <a:ext uri="{FF2B5EF4-FFF2-40B4-BE49-F238E27FC236}">
                <a16:creationId xmlns:a16="http://schemas.microsoft.com/office/drawing/2014/main" id="{FDA15734-0E12-4902-B59A-B887933E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52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process-time-0">
            <a:extLst xmlns:a="http://schemas.openxmlformats.org/drawingml/2006/main">
              <a:ext uri="{FF2B5EF4-FFF2-40B4-BE49-F238E27FC236}">
                <a16:creationId xmlns:a16="http://schemas.microsoft.com/office/drawing/2014/main" id="{B8BE956E-031B-4967-B388-F52EFD1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07:30</a:t>
            </a:r>
          </a:p>
        </p:txBody>
      </p:sp>
      <p:sp>
        <p:nvSpPr>
          <p:cNvPr id="5" name="process-label-0">
            <a:extLst xmlns:a="http://schemas.openxmlformats.org/drawingml/2006/main">
              <a:ext uri="{FF2B5EF4-FFF2-40B4-BE49-F238E27FC236}">
                <a16:creationId xmlns:a16="http://schemas.microsoft.com/office/drawing/2014/main" id="{439CEAD3-D09F-44C5-A1BB-169E01B4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抓取</a:t>
            </a:r>
          </a:p>
        </p:txBody>
      </p:sp>
      <p:sp>
        <p:nvSpPr>
          <p:cNvPr id="6" name="process-copy-0">
            <a:extLst xmlns:a="http://schemas.openxmlformats.org/drawingml/2006/main">
              <a:ext uri="{FF2B5EF4-FFF2-40B4-BE49-F238E27FC236}">
                <a16:creationId xmlns:a16="http://schemas.microsoft.com/office/drawing/2014/main" id="{59160FE3-65E9-4D87-98A5-3F22E950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主機執行 daily_intel.mjs</a:t>
            </a:r>
          </a:p>
        </p:txBody>
      </p:sp>
      <p:sp>
        <p:nvSpPr>
          <p:cNvPr id="7" name="process-dot-1">
            <a:extLst xmlns:a="http://schemas.openxmlformats.org/drawingml/2006/main">
              <a:ext uri="{FF2B5EF4-FFF2-40B4-BE49-F238E27FC236}">
                <a16:creationId xmlns:a16="http://schemas.microsoft.com/office/drawing/2014/main" id="{AEA3222D-D9AE-4E36-A373-955BBA7A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52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process-time-1">
            <a:extLst xmlns:a="http://schemas.openxmlformats.org/drawingml/2006/main">
              <a:ext uri="{FF2B5EF4-FFF2-40B4-BE49-F238E27FC236}">
                <a16:creationId xmlns:a16="http://schemas.microsoft.com/office/drawing/2014/main" id="{8937E998-D7C6-4DD3-A34F-9F226FE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08:00</a:t>
            </a:r>
          </a:p>
        </p:txBody>
      </p:sp>
      <p:sp>
        <p:nvSpPr>
          <p:cNvPr id="9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833C4732-BA9B-4E62-BC3F-7C2C4EE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671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查核</a:t>
            </a:r>
          </a:p>
        </p:txBody>
      </p:sp>
      <p:sp>
        <p:nvSpPr>
          <p:cNvPr id="10" name="process-copy-1">
            <a:extLst xmlns:a="http://schemas.openxmlformats.org/drawingml/2006/main">
              <a:ext uri="{FF2B5EF4-FFF2-40B4-BE49-F238E27FC236}">
                <a16:creationId xmlns:a16="http://schemas.microsoft.com/office/drawing/2014/main" id="{CD8A4227-DAB3-4270-9E1C-1BBF57FA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4337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確認法規、安全與原文日期</a:t>
            </a:r>
          </a:p>
        </p:txBody>
      </p:sp>
      <p:sp>
        <p:nvSpPr>
          <p:cNvPr id="11" name="process-dot-2">
            <a:extLst xmlns:a="http://schemas.openxmlformats.org/drawingml/2006/main">
              <a:ext uri="{FF2B5EF4-FFF2-40B4-BE49-F238E27FC236}">
                <a16:creationId xmlns:a16="http://schemas.microsoft.com/office/drawing/2014/main" id="{0EE4036F-33BD-4847-95D2-52105448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2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process-time-2">
            <a:extLst xmlns:a="http://schemas.openxmlformats.org/drawingml/2006/main">
              <a:ext uri="{FF2B5EF4-FFF2-40B4-BE49-F238E27FC236}">
                <a16:creationId xmlns:a16="http://schemas.microsoft.com/office/drawing/2014/main" id="{31998FD9-434A-4AAE-AB10-2010A17E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647E77C2-BA4C-4ABE-8737-D70EEC7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輸出</a:t>
            </a:r>
          </a:p>
        </p:txBody>
      </p:sp>
      <p:sp>
        <p:nvSpPr>
          <p:cNvPr id="14" name="process-copy-2">
            <a:extLst xmlns:a="http://schemas.openxmlformats.org/drawingml/2006/main">
              <a:ext uri="{FF2B5EF4-FFF2-40B4-BE49-F238E27FC236}">
                <a16:creationId xmlns:a16="http://schemas.microsoft.com/office/drawing/2014/main" id="{3E4DC275-A754-4836-AF5D-3687CB85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B5563"/>
                </a:solidFill>
                <a:latin typeface="Arial"/>
                <a:ea typeface="Arial"/>
                <a:cs typeface="Arial"/>
              </a:rPr>
              <a:t>挑選資訊複製進本簡報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3BC2DA6F-4268-467C-9BB8-41D3DF3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8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電動微移動情報雷達  |  5</a:t>
            </a:r>
          </a:p>
        </p:txBody>
      </p:sp>
    </p:spTree>
    <p:extLst>
      <p:ext uri="{BB962C8B-B14F-4D97-AF65-F5344CB8AC3E}">
        <p14:creationId xmlns:p14="http://schemas.microsoft.com/office/powerpoint/2010/main" val="1243173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2026-08-05T07:07:18.5510000Z</dcterms:created>
  <dcterms:modified xsi:type="dcterms:W3CDTF">2026-08-05T07:07:18.5510000Z</dcterms:modified>
</coreProperties>
</file>